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E3E5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2E3E5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proj/icons/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2655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Spark 클러스터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의미와 환경(인프라) 구성 용어 정리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코어 개념(Driver/Executor/RDD 등)을 제외한, Amazon EMR 기반 클러스터 환경 구성 요소 중심 정리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18288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Spark 클러스터란?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대의 서버(EC2)를 하나의 분산 처리 자원으로 묶어 대용량 데이터를 병렬 처리하는 구조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/home/claude/proj/icons/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정의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분산 처리 엔진을 AWS 인프라(EC2) 위에서 실행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노드가 하나의 논리적 컴퓨팅 자원으로 동작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EC2에 설치하기보다 Amazon EMR을 통한 관리형 구성이 일반적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EMR: Spark·Hadoop·Hive 등을 자동으로 설치/구성/확장해주는 관리형 빅데이터 플랫폼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proj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EMR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MapReduce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정리 범위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29400" y="32004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코어(Driver/Executor/RDD/DAG 등)는 제외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클러스터를 둘러싼 "환경(인프라)" 용어 중심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컴퓨팅 · 스토리지 · 네트워크/보안 · 메타데이터 · 모니터링 · 운영방식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클러스터 구성 아키텍처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내부에 배치된 EMR 클러스터와 주변 AWS 서비스 간의 관계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 w="12700">
            <a:solidFill>
              <a:srgbClr val="9FB8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Subnet / Security Group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6400800" cy="3246120"/>
          </a:xfrm>
          <a:prstGeom prst="roundRect">
            <a:avLst>
              <a:gd name="adj" fmla="val 169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Cluster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1874520" cy="2286000"/>
          </a:xfrm>
          <a:prstGeom prst="roundRect">
            <a:avLst>
              <a:gd name="adj" fmla="val 2927"/>
            </a:avLst>
          </a:prstGeom>
          <a:solidFill>
            <a:srgbClr val="2E3E50"/>
          </a:solidFill>
          <a:ln/>
        </p:spPr>
      </p:sp>
      <p:sp>
        <p:nvSpPr>
          <p:cNvPr id="9" name="Shape 7"/>
          <p:cNvSpPr/>
          <p:nvPr/>
        </p:nvSpPr>
        <p:spPr>
          <a:xfrm>
            <a:off x="1760220" y="271576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0" name="Image 0" descr="/home/claude/proj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866" y="2858414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3383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YARN RM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2514600"/>
            <a:ext cx="1874520" cy="2286000"/>
          </a:xfrm>
          <a:prstGeom prst="roundRect">
            <a:avLst>
              <a:gd name="adj" fmla="val 2927"/>
            </a:avLst>
          </a:prstGeom>
          <a:solidFill>
            <a:srgbClr val="2E3E50"/>
          </a:solidFill>
          <a:ln/>
        </p:spPr>
      </p:sp>
      <p:sp>
        <p:nvSpPr>
          <p:cNvPr id="14" name="Shape 11"/>
          <p:cNvSpPr/>
          <p:nvPr/>
        </p:nvSpPr>
        <p:spPr>
          <a:xfrm>
            <a:off x="3817620" y="271576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1" descr="/home/claude/proj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266" y="2858414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3383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Node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46120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+ HDFS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12080" y="2514600"/>
            <a:ext cx="1874520" cy="2286000"/>
          </a:xfrm>
          <a:prstGeom prst="roundRect">
            <a:avLst>
              <a:gd name="adj" fmla="val 2927"/>
            </a:avLst>
          </a:prstGeom>
          <a:solidFill>
            <a:srgbClr val="2E3E50"/>
          </a:solidFill>
          <a:ln/>
        </p:spPr>
      </p:sp>
      <p:sp>
        <p:nvSpPr>
          <p:cNvPr id="19" name="Shape 15"/>
          <p:cNvSpPr/>
          <p:nvPr/>
        </p:nvSpPr>
        <p:spPr>
          <a:xfrm>
            <a:off x="5875020" y="271576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0" name="Image 2" descr="/home/claude/proj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666" y="2858414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3383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Node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03520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Only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Scaling)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" y="4892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EMRFS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955280" y="1417320"/>
            <a:ext cx="3703320" cy="1069848"/>
          </a:xfrm>
          <a:prstGeom prst="roundRect">
            <a:avLst>
              <a:gd name="adj" fmla="val 598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119872" y="1659636"/>
            <a:ext cx="585216" cy="58521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6" name="Image 3" descr="/home/claude/proj/icons/stor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028" y="1811792"/>
            <a:ext cx="280904" cy="280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69680" y="1554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869680" y="1901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입출력 저장소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955280" y="2624328"/>
            <a:ext cx="3703320" cy="1069848"/>
          </a:xfrm>
          <a:prstGeom prst="roundRect">
            <a:avLst>
              <a:gd name="adj" fmla="val 598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119872" y="2866644"/>
            <a:ext cx="585216" cy="58521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1" name="Image 4" descr="/home/claude/proj/icons/cat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028" y="3018800"/>
            <a:ext cx="280904" cy="280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869680" y="27614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869680" y="3108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관리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955280" y="3831336"/>
            <a:ext cx="3703320" cy="1069848"/>
          </a:xfrm>
          <a:prstGeom prst="roundRect">
            <a:avLst>
              <a:gd name="adj" fmla="val 598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19872" y="4073652"/>
            <a:ext cx="585216" cy="58521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6" name="Image 5" descr="/home/claude/proj/icons/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028" y="4225808"/>
            <a:ext cx="280904" cy="28090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69680" y="396849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869680" y="43159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부여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7955280" y="5038344"/>
            <a:ext cx="3703320" cy="1069848"/>
          </a:xfrm>
          <a:prstGeom prst="roundRect">
            <a:avLst>
              <a:gd name="adj" fmla="val 598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119872" y="5280660"/>
            <a:ext cx="585216" cy="58521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41" name="Image 6" descr="/home/claude/proj/icons/monito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028" y="5432816"/>
            <a:ext cx="280904" cy="28090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869680" y="517550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8869680" y="552297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/ 로그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269480" y="3566160"/>
            <a:ext cx="685800" cy="0"/>
          </a:xfrm>
          <a:prstGeom prst="line">
            <a:avLst/>
          </a:prstGeom>
          <a:noFill/>
          <a:ln w="19050">
            <a:solidFill>
              <a:srgbClr val="9FB8DA"/>
            </a:solidFill>
            <a:prstDash val="dash"/>
          </a:ln>
        </p:spPr>
      </p:sp>
      <p:sp>
        <p:nvSpPr>
          <p:cNvPr id="45" name="Text 3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컴퓨팅 관련 용어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노드와 연산 자원에 관련된 환경 구성 요소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proj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041" y="494873"/>
            <a:ext cx="272125" cy="272125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 (Elastic MapReduce)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Spark/Hadoop 등을 관리형으로 실행해주는 AWS 빅데이터 플랫폼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 관리, YARN ResourceManager, Spark Driver 등이 실행되는 노드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데이터를 저장(HDFS)하고 태스크를 실행하는 노드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 없이 순수 연산(Executor)만 담당, 오토스케일링에 주로 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Instance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노드의 하드웨어 스펙 (예: m5.xlarge, r5.2xlarge 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Scaling / Managed 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워크로드에 따라 Task Node 수를 자동 증감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/ On-Demand Instance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 절감을 위한 인스턴스 구매 옵션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스토리지 관련 용어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작업의 데이터 입출력 및 저장과 관련된 구성 요소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proj/icons/sto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041" y="494873"/>
            <a:ext cx="272125" cy="272125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(Simple Storage Service)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입력/출력 데이터를 저장하는 객체 스토리지 (EMRFS로 접근)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EMR에서 S3를 HDFS처럼 사용할 수 있게 해주는 파일시스템 레이어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Node의 로컬 스토리지, 임시/셔플 데이터 저장에 활용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(Elastic Block Store)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노드에 연결되는 블록 스토리지 볼륨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네트워크 · 보안 관련 용어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클러스터가 위치하는 네트워크 경계와 접근 제어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proj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041" y="494873"/>
            <a:ext cx="272125" cy="272125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(Virtual Private Cloud)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클러스터가 위치하는 논리적 네트워크 공간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내에서 노드가 배치되는 서브 네트워크 (Public/Private)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노드 간, 외부와의 트래픽을 제어하는 방화벽 규칙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Role (EMR Role, EC2 Instance Profile)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Glue 등 다른 AWS 서비스에 접근할 권한 부여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 (Key Management Service)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저장/전송 데이터 암호화에 사용되는 키 관리 서비스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메타데이터 · 모니터링 관련 용어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스키마 관리와 클러스터 운영 상태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5" name="Image 0" descr="/home/claude/proj/icons/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99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메타데이터/카탈로그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 Data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Metastore 대체 가능한 중앙 메타데이터 저장소 (테이블 스키마 관리)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Metastore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전통적인 테이블 메타데이터 저장소 (Glue로 대체 가능)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9" name="Image 1" descr="/home/claude/proj/icon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50235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9440" y="1399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운영/모니터링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65960"/>
          <a:ext cx="5349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11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로그, 메트릭(CPU/메모리 등) 모니터링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History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완료된 애플리케이션 실행 이력 확인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 생성 시 추가 소프트웨어/설정 적용 스크립트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(EMR Step)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클러스터에 제출하는 개별 작업 단위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 Release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지원되는 Spark/Hadoop 버전 묶음 (예: emr-6.15.0)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클러스터 운영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특성에 따른 클러스터 생명주기 선택 옵션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828800"/>
            <a:ext cx="822960" cy="82296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/home/claude/proj/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70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Cluster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작업(Step) 완료 후 자동 종료되는 일회성 클러스터 (비용 절감)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1980" y="1828800"/>
            <a:ext cx="822960" cy="82296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1" name="Image 1" descr="/home/claude/proj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50" y="20427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Cluster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7600" y="35204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유지되며 여러 작업을 반복 처리하는 클러스터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38060" y="1828800"/>
            <a:ext cx="822960" cy="82296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6" name="Image 2" descr="/home/claude/proj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030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Serverless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83680" y="35204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프로비저닝 없이 Spark 작업만 서버리스로 실행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64140" y="1828800"/>
            <a:ext cx="822960" cy="82296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1" name="Image 3" descr="/home/claude/proj/icons/clu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110" y="20427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6404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on EKS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509760" y="35204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Kubernetes(EKS) 위에서 Spark를 실행하는 방식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요약: 구성 계층 한눈에 보기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1051560"/>
          </a:xfrm>
          <a:prstGeom prst="roundRect">
            <a:avLst>
              <a:gd name="adj" fmla="val 6087"/>
            </a:avLst>
          </a:prstGeom>
          <a:solidFill>
            <a:srgbClr val="2E3E50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513332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proj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356" y="1665488"/>
            <a:ext cx="280904" cy="280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3160" y="13898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Subnet / Security Group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2316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경계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2331720"/>
            <a:ext cx="0" cy="22860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371600" y="2514600"/>
            <a:ext cx="9418320" cy="1051560"/>
          </a:xfrm>
          <a:prstGeom prst="roundRect">
            <a:avLst>
              <a:gd name="adj" fmla="val 6087"/>
            </a:avLst>
          </a:prstGeom>
          <a:solidFill>
            <a:srgbClr val="2E3E50"/>
          </a:solidFill>
          <a:ln/>
        </p:spPr>
      </p:sp>
      <p:sp>
        <p:nvSpPr>
          <p:cNvPr id="10" name="Shape 7"/>
          <p:cNvSpPr/>
          <p:nvPr/>
        </p:nvSpPr>
        <p:spPr>
          <a:xfrm>
            <a:off x="1600200" y="2747772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proj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56" y="2899928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Cluster (Master · Core · Task Node)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42316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Role로 S3 / Glue Catalog 접근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3566160"/>
            <a:ext cx="0" cy="22860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1371600" y="3749040"/>
            <a:ext cx="9418320" cy="1051560"/>
          </a:xfrm>
          <a:prstGeom prst="roundRect">
            <a:avLst>
              <a:gd name="adj" fmla="val 6087"/>
            </a:avLst>
          </a:prstGeom>
          <a:solidFill>
            <a:srgbClr val="2E3E50"/>
          </a:solidFill>
          <a:ln/>
        </p:spPr>
      </p:sp>
      <p:sp>
        <p:nvSpPr>
          <p:cNvPr id="16" name="Shape 12"/>
          <p:cNvSpPr/>
          <p:nvPr/>
        </p:nvSpPr>
        <p:spPr>
          <a:xfrm>
            <a:off x="1600200" y="3982212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/home/claude/proj/icons/stor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356" y="4134368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23160" y="38587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(EMRFS)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42316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입출력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80760" y="4800600"/>
            <a:ext cx="0" cy="22860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1371600" y="4983480"/>
            <a:ext cx="9418320" cy="1051560"/>
          </a:xfrm>
          <a:prstGeom prst="roundRect">
            <a:avLst>
              <a:gd name="adj" fmla="val 6087"/>
            </a:avLst>
          </a:prstGeom>
          <a:solidFill>
            <a:srgbClr val="2E3E50"/>
          </a:solidFill>
          <a:ln/>
        </p:spPr>
      </p:sp>
      <p:sp>
        <p:nvSpPr>
          <p:cNvPr id="22" name="Shape 17"/>
          <p:cNvSpPr/>
          <p:nvPr/>
        </p:nvSpPr>
        <p:spPr>
          <a:xfrm>
            <a:off x="1600200" y="5216652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3" name="Image 3" descr="/home/claude/proj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356" y="5368808"/>
            <a:ext cx="280904" cy="280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23160" y="50932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242316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/ 로그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Spark 클러스터 구성 가이드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Spark 클러스터 구성 가이드</dc:title>
  <dc:subject>PptxGenJS Presentation</dc:subject>
  <dc:creator>Claude</dc:creator>
  <cp:lastModifiedBy>Claude</cp:lastModifiedBy>
  <cp:revision>1</cp:revision>
  <dcterms:created xsi:type="dcterms:W3CDTF">2026-07-07T23:40:28Z</dcterms:created>
  <dcterms:modified xsi:type="dcterms:W3CDTF">2026-07-07T23:40:28Z</dcterms:modified>
</cp:coreProperties>
</file>